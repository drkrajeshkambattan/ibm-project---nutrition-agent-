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91" r:id="rId9"/>
    <p:sldId id="262" r:id="rId10"/>
    <p:sldId id="264" r:id="rId11"/>
    <p:sldId id="277" r:id="rId12"/>
    <p:sldId id="290" r:id="rId13"/>
    <p:sldId id="292" r:id="rId14"/>
    <p:sldId id="293" r:id="rId15"/>
    <p:sldId id="286" r:id="rId16"/>
    <p:sldId id="287" r:id="rId17"/>
    <p:sldId id="280" r:id="rId18"/>
    <p:sldId id="288"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67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87557951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2174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5636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4820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3791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rajesh.kambattan@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drkrajeshkambattan/IBM-Project---Nutrition-Agent-/upload/main"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50021302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655566">
                  <a:extLst>
                    <a:ext uri="{9D8B030D-6E8A-4147-A177-3AD203B41FA5}">
                      <a16:colId xmlns="" xmlns:a16="http://schemas.microsoft.com/office/drawing/2014/main" val="20003"/>
                    </a:ext>
                  </a:extLst>
                </a:gridCol>
                <a:gridCol w="2231182">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l" rtl="0">
                        <a:spcBef>
                          <a:spcPts val="0"/>
                        </a:spcBef>
                        <a:spcAft>
                          <a:spcPts val="0"/>
                        </a:spcAft>
                        <a:buNone/>
                      </a:pPr>
                      <a:r>
                        <a:rPr lang="en-US" dirty="0" smtClean="0"/>
                        <a:t>Dr. K. RAJESH KAMBATTAN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hlinkClick r:id="rId3"/>
                        </a:rPr>
                        <a:t>rajesh.kambattan@gmail.com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94887 66656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a:t>
            </a:r>
            <a:r>
              <a:rPr lang="en-US" sz="2400" b="1" dirty="0" smtClean="0">
                <a:highlight>
                  <a:srgbClr val="FFFF00"/>
                </a:highlight>
              </a:rPr>
              <a:t>Healthcare]</a:t>
            </a:r>
            <a:endParaRPr lang="en-IN" sz="24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b="1" dirty="0" smtClean="0">
                <a:highlight>
                  <a:srgbClr val="FFFF00"/>
                </a:highlight>
              </a:rPr>
              <a:t>[</a:t>
            </a:r>
            <a:r>
              <a:rPr lang="en-US" sz="2400" b="1" dirty="0">
                <a:solidFill>
                  <a:srgbClr val="002060"/>
                </a:solidFill>
                <a:highlight>
                  <a:srgbClr val="FFFF00"/>
                </a:highlight>
                <a:latin typeface="Times New Roman"/>
                <a:cs typeface="Times New Roman"/>
              </a:rPr>
              <a:t>RE</a:t>
            </a:r>
            <a:r>
              <a:rPr lang="en-US" sz="2400" b="1" dirty="0" smtClean="0">
                <a:solidFill>
                  <a:srgbClr val="002060"/>
                </a:solidFill>
                <a:highlight>
                  <a:srgbClr val="FFFF00"/>
                </a:highlight>
                <a:latin typeface="Times New Roman"/>
                <a:cs typeface="Times New Roman"/>
              </a:rPr>
              <a:t>COMMENDATION SYSTEM OF </a:t>
            </a:r>
            <a:r>
              <a:rPr lang="en-US" sz="2400" b="1" dirty="0" smtClean="0">
                <a:solidFill>
                  <a:srgbClr val="002060"/>
                </a:solidFill>
                <a:highlight>
                  <a:srgbClr val="FFFF00"/>
                </a:highlight>
                <a:latin typeface="Times New Roman"/>
                <a:cs typeface="Times New Roman"/>
                <a:sym typeface="Times New Roman"/>
              </a:rPr>
              <a:t>NUTRITION BY AI AGENT</a:t>
            </a:r>
            <a:r>
              <a:rPr lang="en-US" sz="2400" b="1" dirty="0" smtClean="0">
                <a:highlight>
                  <a:srgbClr val="FFFF00"/>
                </a:highlight>
              </a:rPr>
              <a:t>]</a:t>
            </a:r>
            <a:endParaRPr lang="en-IN" sz="2400" b="1" dirty="0">
              <a:highlight>
                <a:srgbClr val="FFFF00"/>
              </a:highlight>
            </a:endParaRPr>
          </a:p>
        </p:txBody>
      </p:sp>
      <p:sp>
        <p:nvSpPr>
          <p:cNvPr id="3" name="TextBox 2">
            <a:extLst>
              <a:ext uri="{FF2B5EF4-FFF2-40B4-BE49-F238E27FC236}">
                <a16:creationId xmlns=""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r>
              <a:rPr lang="en-US" sz="2000"/>
              <a:t/>
            </a: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2810" y="3599235"/>
            <a:ext cx="854953" cy="10992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1234440"/>
            <a:ext cx="10607040" cy="5262979"/>
          </a:xfrm>
          <a:prstGeom prst="rect">
            <a:avLst/>
          </a:prstGeom>
          <a:noFill/>
        </p:spPr>
        <p:txBody>
          <a:bodyPr wrap="square" rtlCol="0">
            <a:spAutoFit/>
          </a:bodyPr>
          <a:lstStyle/>
          <a:p>
            <a:pPr fontAlgn="base"/>
            <a:r>
              <a:rPr lang="en-US" b="1" dirty="0"/>
              <a:t>Problem Statement : </a:t>
            </a:r>
            <a:r>
              <a:rPr lang="en-US" b="1" dirty="0" smtClean="0"/>
              <a:t>Recommendation System of Nutrition by AI Agent</a:t>
            </a:r>
            <a:r>
              <a:rPr lang="en-US" dirty="0"/>
              <a:t> </a:t>
            </a:r>
          </a:p>
          <a:p>
            <a:pPr fontAlgn="base"/>
            <a:endParaRPr lang="en-US" b="1" dirty="0"/>
          </a:p>
          <a:p>
            <a:pPr fontAlgn="base"/>
            <a:r>
              <a:rPr lang="en-US" b="1" dirty="0"/>
              <a:t>The Challenge</a:t>
            </a:r>
            <a:r>
              <a:rPr lang="en-US" dirty="0"/>
              <a:t> </a:t>
            </a:r>
          </a:p>
          <a:p>
            <a:pPr algn="just" fontAlgn="base"/>
            <a:r>
              <a:rPr lang="en-US" dirty="0"/>
              <a:t>Maintaining health relies heavily on proper nutrition, yet people frequently find it difficult to plan meals, manage portions, and log their daily food intake. Furthermore, accurate data regarding general wellness, therapeutic diets, and nutrient profiles is fragmented and often untrustworthy. The absence of tailored, immediate feedback makes it challenging for most individuals to sustain a wholesome diet and select the right foods</a:t>
            </a:r>
            <a:r>
              <a:rPr lang="en-US" dirty="0" smtClean="0"/>
              <a:t>.</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r>
              <a:rPr lang="en-US" dirty="0" smtClean="0"/>
              <a:t>More than one Agent interacting with others to produce solutions.</a:t>
            </a:r>
            <a:endParaRPr lang="en-US" dirty="0"/>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523726"/>
            <a:ext cx="10607040" cy="6555641"/>
          </a:xfrm>
          <a:prstGeom prst="rect">
            <a:avLst/>
          </a:prstGeom>
          <a:noFill/>
        </p:spPr>
        <p:txBody>
          <a:bodyPr wrap="square" rtlCol="0">
            <a:spAutoFit/>
          </a:bodyPr>
          <a:lstStyle/>
          <a:p>
            <a:pPr fontAlgn="base"/>
            <a:endParaRPr lang="en-US" b="1" dirty="0"/>
          </a:p>
          <a:p>
            <a:pPr algn="just"/>
            <a:r>
              <a:rPr lang="en-US" b="1" dirty="0"/>
              <a:t>Proposed Solution: </a:t>
            </a:r>
            <a:r>
              <a:rPr lang="en-US" b="1" dirty="0" smtClean="0"/>
              <a:t>Recommendation System of Nutrition by AI Agent</a:t>
            </a:r>
            <a:endParaRPr lang="en-US" b="1" dirty="0"/>
          </a:p>
          <a:p>
            <a:pPr algn="just"/>
            <a:r>
              <a:rPr lang="en-US" dirty="0"/>
              <a:t>The proposed solution is a </a:t>
            </a:r>
            <a:r>
              <a:rPr lang="en-US" b="1" dirty="0"/>
              <a:t>multi-agent AI-powered Nutrition Agent</a:t>
            </a:r>
            <a:r>
              <a:rPr lang="en-US" dirty="0"/>
              <a:t> built using </a:t>
            </a:r>
            <a:r>
              <a:rPr lang="en-US" b="1" dirty="0"/>
              <a:t>IBM Bob, IBM watsonx.ai, and </a:t>
            </a:r>
            <a:r>
              <a:rPr lang="en-US" b="1" dirty="0" smtClean="0"/>
              <a:t>Granite-4-h Model</a:t>
            </a:r>
            <a:r>
              <a:rPr lang="en-US" dirty="0" smtClean="0"/>
              <a:t> </a:t>
            </a:r>
            <a:r>
              <a:rPr lang="en-US" dirty="0"/>
              <a:t>to provide personalized, real-time dietary guidance. The system addresses challenges in diet planning, nutrition tracking, and preventive healthcare through an intelligent, modular architecture</a:t>
            </a:r>
            <a:r>
              <a:rPr lang="en-US" dirty="0" smtClean="0"/>
              <a:t>.</a:t>
            </a:r>
          </a:p>
          <a:p>
            <a:pPr algn="just"/>
            <a:endParaRPr lang="en-US" dirty="0"/>
          </a:p>
          <a:p>
            <a:pPr algn="just"/>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r>
              <a:rPr lang="en-US" dirty="0" smtClean="0"/>
              <a:t>.</a:t>
            </a:r>
          </a:p>
          <a:p>
            <a:pPr algn="just"/>
            <a:endParaRPr lang="en-US" dirty="0"/>
          </a:p>
          <a:p>
            <a:pPr algn="just"/>
            <a:r>
              <a:rPr lang="en-US" dirty="0"/>
              <a:t>The system consists of four key agents:</a:t>
            </a:r>
          </a:p>
          <a:p>
            <a:pPr algn="just"/>
            <a:r>
              <a:rPr lang="en-US" b="1" dirty="0"/>
              <a:t>Nutrition Knowledge Agent</a:t>
            </a:r>
            <a:r>
              <a:rPr lang="en-US" dirty="0"/>
              <a:t> retrieves and summarizes nutritional information using RAG. </a:t>
            </a:r>
          </a:p>
          <a:p>
            <a:pPr algn="just"/>
            <a:r>
              <a:rPr lang="en-US" b="1" dirty="0"/>
              <a:t>Diet Recommendation Agent</a:t>
            </a:r>
            <a:r>
              <a:rPr lang="en-US" dirty="0"/>
              <a:t> generates personalized meal plans based on user inputs such as age, health conditions, dietary preferences, and fitness goals. </a:t>
            </a:r>
            <a:endParaRPr lang="en-US" dirty="0" smtClean="0"/>
          </a:p>
          <a:p>
            <a:pPr algn="just"/>
            <a:endParaRPr lang="en-US" dirty="0"/>
          </a:p>
          <a:p>
            <a:pPr algn="just"/>
            <a:r>
              <a:rPr lang="en-US" b="1" dirty="0"/>
              <a:t>Health Advisory Agent</a:t>
            </a:r>
            <a:r>
              <a:rPr lang="en-US" dirty="0"/>
              <a:t> provides preventive health suggestions, including disease-specific diets (e.g., diabetes-friendly or heart-healthy plans). </a:t>
            </a:r>
            <a:endParaRPr lang="en-US" dirty="0" smtClean="0"/>
          </a:p>
          <a:p>
            <a:pPr algn="just"/>
            <a:endParaRPr lang="en-US" dirty="0"/>
          </a:p>
          <a:p>
            <a:pPr algn="just"/>
            <a:r>
              <a:rPr lang="en-US" b="1" dirty="0"/>
              <a:t>Food Log &amp; Feedback Agent</a:t>
            </a:r>
            <a:r>
              <a:rPr lang="en-US" dirty="0"/>
              <a:t> allows users to log meals via text, voice, or images and delivers instant nutritional analysis with actionable feedback. </a:t>
            </a:r>
            <a:endParaRPr lang="en-US" dirty="0" smtClean="0"/>
          </a:p>
          <a:p>
            <a:pPr algn="just"/>
            <a:endParaRPr lang="en-US" dirty="0"/>
          </a:p>
          <a:p>
            <a:pPr algn="just"/>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pPr algn="just"/>
            <a:r>
              <a:rPr lang="en-US" dirty="0"/>
              <a:t>IBM Bob is used to orchestrate agent workflows, while watsonx.ai ensures scalable model deployment, embeddings, and AI governance. Granite models power reasoning, summarization, and personalization</a:t>
            </a:r>
            <a:r>
              <a:rPr lang="en-US" dirty="0" smtClean="0"/>
              <a:t>.</a:t>
            </a:r>
          </a:p>
          <a:p>
            <a:pPr algn="just"/>
            <a:endParaRPr lang="en-US" dirty="0"/>
          </a:p>
          <a:p>
            <a:pPr algn="just"/>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62061"/>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474822" y="863187"/>
            <a:ext cx="8823960" cy="5293757"/>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a:t>
            </a:r>
            <a:r>
              <a:rPr lang="en-US" sz="1800" dirty="0" smtClean="0"/>
              <a:t>pp.py</a:t>
            </a:r>
            <a:endParaRPr lang="en-US" sz="1800" dirty="0"/>
          </a:p>
          <a:p>
            <a:pPr marL="342900" indent="-342900">
              <a:buFont typeface="+mj-lt"/>
              <a:buAutoNum type="arabicPeriod"/>
            </a:pPr>
            <a:endParaRPr lang="en-US" sz="1800" dirty="0"/>
          </a:p>
          <a:p>
            <a:pPr marL="342900" indent="-342900">
              <a:buFont typeface="+mj-lt"/>
              <a:buAutoNum type="arabicPeriod"/>
            </a:pPr>
            <a:r>
              <a:rPr lang="en-US" sz="1800" dirty="0"/>
              <a:t>r</a:t>
            </a:r>
            <a:r>
              <a:rPr lang="en-US" sz="1800" dirty="0" smtClean="0"/>
              <a:t>equirements.txt</a:t>
            </a:r>
            <a:endParaRPr lang="en-US" sz="1800" dirty="0"/>
          </a:p>
          <a:p>
            <a:pPr marL="342900" indent="-342900">
              <a:buFont typeface="+mj-lt"/>
              <a:buAutoNum type="arabicPeriod"/>
            </a:pPr>
            <a:endParaRPr lang="en-US" sz="1800" dirty="0"/>
          </a:p>
          <a:p>
            <a:pPr marL="342900" indent="-342900">
              <a:buFont typeface="+mj-lt"/>
              <a:buAutoNum type="arabicPeriod"/>
            </a:pPr>
            <a:r>
              <a:rPr lang="en-US" sz="1800" dirty="0" smtClean="0"/>
              <a:t>.</a:t>
            </a:r>
            <a:r>
              <a:rPr lang="en-US" sz="1800" dirty="0" err="1" smtClean="0"/>
              <a:t>css</a:t>
            </a:r>
            <a:r>
              <a:rPr lang="en-US" sz="1800" dirty="0" smtClean="0"/>
              <a:t> </a:t>
            </a:r>
          </a:p>
          <a:p>
            <a:pPr marL="342900" indent="-342900">
              <a:buFont typeface="+mj-lt"/>
              <a:buAutoNum type="arabicPeriod"/>
            </a:pPr>
            <a:endParaRPr lang="en-US" sz="1800" dirty="0"/>
          </a:p>
          <a:p>
            <a:pPr marL="342900" indent="-342900">
              <a:buFont typeface="+mj-lt"/>
              <a:buAutoNum type="arabicPeriod"/>
            </a:pPr>
            <a:r>
              <a:rPr lang="en-US" sz="1800" dirty="0" smtClean="0"/>
              <a:t>.</a:t>
            </a:r>
            <a:r>
              <a:rPr lang="en-US" sz="1800" dirty="0" err="1" smtClean="0"/>
              <a:t>jss</a:t>
            </a:r>
            <a:endParaRPr lang="en-US" sz="1800" dirty="0"/>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3" name="Picture 2"/>
          <p:cNvPicPr>
            <a:picLocks noChangeAspect="1"/>
          </p:cNvPicPr>
          <p:nvPr/>
        </p:nvPicPr>
        <p:blipFill>
          <a:blip r:embed="rId3"/>
          <a:stretch>
            <a:fillRect/>
          </a:stretch>
        </p:blipFill>
        <p:spPr>
          <a:xfrm>
            <a:off x="3367648" y="1118682"/>
            <a:ext cx="8433121" cy="4533016"/>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3" name="Picture 2"/>
          <p:cNvPicPr>
            <a:picLocks noChangeAspect="1"/>
          </p:cNvPicPr>
          <p:nvPr/>
        </p:nvPicPr>
        <p:blipFill>
          <a:blip r:embed="rId3"/>
          <a:stretch>
            <a:fillRect/>
          </a:stretch>
        </p:blipFill>
        <p:spPr>
          <a:xfrm>
            <a:off x="291643" y="1079770"/>
            <a:ext cx="11566746" cy="495286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19073" y="294304"/>
            <a:ext cx="8433880" cy="6181458"/>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3" name="Picture 2">
            <a:extLst>
              <a:ext uri="{FF2B5EF4-FFF2-40B4-BE49-F238E27FC236}">
                <a16:creationId xmlns=""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 xmlns:a16="http://schemas.microsoft.com/office/drawing/2014/main" id="{B84A7B44-8B20-5A39-ED43-DA98D0FC7976}"/>
              </a:ext>
            </a:extLst>
          </p:cNvPr>
          <p:cNvSpPr txBox="1"/>
          <p:nvPr/>
        </p:nvSpPr>
        <p:spPr>
          <a:xfrm>
            <a:off x="475488" y="137544"/>
            <a:ext cx="9317736" cy="584775"/>
          </a:xfrm>
          <a:prstGeom prst="rect">
            <a:avLst/>
          </a:prstGeom>
          <a:noFill/>
        </p:spPr>
        <p:txBody>
          <a:bodyPr wrap="square" rtlCol="0">
            <a:spAutoFit/>
          </a:bodyPr>
          <a:lstStyle/>
          <a:p>
            <a:r>
              <a:rPr lang="en-US" sz="3200" b="1" dirty="0"/>
              <a:t>Role of </a:t>
            </a:r>
            <a:r>
              <a:rPr lang="en-US" sz="3200" b="1" dirty="0" err="1"/>
              <a:t>Agentic</a:t>
            </a:r>
            <a:r>
              <a:rPr lang="en-US" sz="3200" b="1" dirty="0"/>
              <a:t> AI in the solution </a:t>
            </a:r>
            <a:endParaRPr lang="en-IN" sz="3200" b="1" dirty="0"/>
          </a:p>
        </p:txBody>
      </p:sp>
      <p:sp>
        <p:nvSpPr>
          <p:cNvPr id="3" name="TextBox 2">
            <a:extLst>
              <a:ext uri="{FF2B5EF4-FFF2-40B4-BE49-F238E27FC236}">
                <a16:creationId xmlns="" xmlns:a16="http://schemas.microsoft.com/office/drawing/2014/main" id="{322462E8-EB3A-DA7D-44CB-4E757803A755}"/>
              </a:ext>
            </a:extLst>
          </p:cNvPr>
          <p:cNvSpPr txBox="1"/>
          <p:nvPr/>
        </p:nvSpPr>
        <p:spPr>
          <a:xfrm>
            <a:off x="475488" y="846473"/>
            <a:ext cx="7406640" cy="6001643"/>
          </a:xfrm>
          <a:prstGeom prst="rect">
            <a:avLst/>
          </a:prstGeom>
          <a:noFill/>
        </p:spPr>
        <p:txBody>
          <a:bodyPr wrap="square" rtlCol="0">
            <a:spAutoFit/>
          </a:bodyPr>
          <a:lstStyle/>
          <a:p>
            <a:r>
              <a:rPr lang="en-US" sz="1600" b="1" dirty="0"/>
              <a:t>Role of </a:t>
            </a:r>
            <a:r>
              <a:rPr lang="en-US" sz="1600" b="1" dirty="0" err="1"/>
              <a:t>Agentic</a:t>
            </a:r>
            <a:r>
              <a:rPr lang="en-US" sz="1600" b="1" dirty="0"/>
              <a:t> AI in </a:t>
            </a:r>
            <a:r>
              <a:rPr lang="en-US" sz="1600" b="1" dirty="0" smtClean="0"/>
              <a:t>Recommendation System of Nutrition Agent:</a:t>
            </a:r>
          </a:p>
          <a:p>
            <a:endParaRPr lang="en-US" sz="1600" b="1" dirty="0"/>
          </a:p>
          <a:p>
            <a:pPr algn="just"/>
            <a:r>
              <a:rPr lang="en-US" sz="1600" b="1" dirty="0" err="1"/>
              <a:t>Agentic</a:t>
            </a:r>
            <a:r>
              <a:rPr lang="en-US" sz="1600" b="1" dirty="0"/>
              <a:t> AI</a:t>
            </a:r>
            <a:r>
              <a:rPr lang="en-US" sz="1600" dirty="0"/>
              <a:t> enables the Nutrition Agent to function as an intelligent, autonomous system rather than a simple </a:t>
            </a:r>
            <a:r>
              <a:rPr lang="en-US" sz="1600" dirty="0" err="1"/>
              <a:t>chatbot</a:t>
            </a:r>
            <a:r>
              <a:rPr lang="en-US" sz="1600" dirty="0"/>
              <a:t>. </a:t>
            </a:r>
            <a:endParaRPr lang="en-US" sz="1600" dirty="0" smtClean="0"/>
          </a:p>
          <a:p>
            <a:pPr algn="just"/>
            <a:endParaRPr lang="en-US" sz="1600" dirty="0"/>
          </a:p>
          <a:p>
            <a:pPr algn="just"/>
            <a:r>
              <a:rPr lang="en-US" sz="1600" dirty="0" smtClean="0"/>
              <a:t>Using </a:t>
            </a:r>
            <a:r>
              <a:rPr lang="en-US" sz="1600" b="1" dirty="0"/>
              <a:t>IBM watsonx.ai</a:t>
            </a:r>
            <a:r>
              <a:rPr lang="en-US" sz="1600" dirty="0"/>
              <a:t> and </a:t>
            </a:r>
            <a:r>
              <a:rPr lang="en-US" sz="1600" b="1" dirty="0"/>
              <a:t>IBM Granite models</a:t>
            </a:r>
            <a:r>
              <a:rPr lang="en-US" sz="1600" dirty="0"/>
              <a:t>, it coordinates multiple specialized agents to deliver personalized nutrition guidance</a:t>
            </a:r>
            <a:r>
              <a:rPr lang="en-US" sz="1600" dirty="0" smtClean="0"/>
              <a:t>.</a:t>
            </a:r>
          </a:p>
          <a:p>
            <a:pPr algn="just"/>
            <a:endParaRPr lang="en-US" sz="1600" dirty="0"/>
          </a:p>
          <a:p>
            <a:pPr algn="just"/>
            <a:r>
              <a:rPr lang="en-US" sz="1600" dirty="0"/>
              <a:t>Each agent performs a specific role—such as retrieving nutritional data, generating diet plans, providing health advice, and analyzing food logs—while working collaboratively. This </a:t>
            </a:r>
            <a:r>
              <a:rPr lang="en-US" sz="1600" b="1" dirty="0"/>
              <a:t>multi-agent approach</a:t>
            </a:r>
            <a:r>
              <a:rPr lang="en-US" sz="1600" dirty="0"/>
              <a:t> ensures efficient task execution and accurate results</a:t>
            </a:r>
            <a:r>
              <a:rPr lang="en-US" sz="1600" dirty="0" smtClean="0"/>
              <a:t>.</a:t>
            </a:r>
          </a:p>
          <a:p>
            <a:pPr algn="just"/>
            <a:endParaRPr lang="en-US" sz="1600" dirty="0"/>
          </a:p>
          <a:p>
            <a:pPr algn="just"/>
            <a:r>
              <a:rPr lang="en-US" sz="1600" dirty="0" err="1"/>
              <a:t>Agentic</a:t>
            </a:r>
            <a:r>
              <a:rPr lang="en-US" sz="1600" dirty="0"/>
              <a:t> AI also brings </a:t>
            </a:r>
            <a:r>
              <a:rPr lang="en-US" sz="1600" b="1" dirty="0"/>
              <a:t>context awareness</a:t>
            </a:r>
            <a:r>
              <a:rPr lang="en-US" sz="1600" dirty="0"/>
              <a:t>, understanding user details like age, health conditions, and fitness goals to generate tailored recommendations. It supports </a:t>
            </a:r>
            <a:r>
              <a:rPr lang="en-US" sz="1600" b="1" dirty="0"/>
              <a:t>real-time adaptation</a:t>
            </a:r>
            <a:r>
              <a:rPr lang="en-US" sz="1600" dirty="0"/>
              <a:t>, continuously updating suggestions based on user inputs like daily meals</a:t>
            </a:r>
            <a:r>
              <a:rPr lang="en-US" sz="1600" dirty="0" smtClean="0"/>
              <a:t>.</a:t>
            </a:r>
          </a:p>
          <a:p>
            <a:pPr algn="just"/>
            <a:endParaRPr lang="en-US" sz="1600" dirty="0"/>
          </a:p>
          <a:p>
            <a:pPr algn="just"/>
            <a:r>
              <a:rPr lang="en-US" sz="1600" dirty="0"/>
              <a:t>Additionally, agents communicate with each other, enabling better decision-making and improved outcomes</a:t>
            </a:r>
            <a:r>
              <a:rPr lang="en-US" sz="1600" dirty="0" smtClean="0"/>
              <a:t>.</a:t>
            </a:r>
          </a:p>
          <a:p>
            <a:pPr algn="just"/>
            <a:endParaRPr lang="en-US" sz="1600" dirty="0"/>
          </a:p>
          <a:p>
            <a:pPr algn="just"/>
            <a:r>
              <a:rPr lang="en-US" sz="1600" dirty="0"/>
              <a:t>Overall, </a:t>
            </a:r>
            <a:r>
              <a:rPr lang="en-US" sz="1600" dirty="0" err="1"/>
              <a:t>Agentic</a:t>
            </a:r>
            <a:r>
              <a:rPr lang="en-US" sz="1600" dirty="0"/>
              <a:t> AI makes the system proactive, personalized, and goal-driven, acting like a </a:t>
            </a:r>
            <a:r>
              <a:rPr lang="en-US" sz="1600" b="1" dirty="0"/>
              <a:t>smart digital nutritionist</a:t>
            </a:r>
            <a:r>
              <a:rPr lang="en-US" sz="1600" dirty="0"/>
              <a:t> that helps users maintain a healthy lifestyle.</a:t>
            </a:r>
          </a:p>
        </p:txBody>
      </p:sp>
      <p:pic>
        <p:nvPicPr>
          <p:cNvPr id="4" name="Picture 3"/>
          <p:cNvPicPr>
            <a:picLocks noChangeAspect="1"/>
          </p:cNvPicPr>
          <p:nvPr/>
        </p:nvPicPr>
        <p:blipFill>
          <a:blip r:embed="rId3"/>
          <a:stretch>
            <a:fillRect/>
          </a:stretch>
        </p:blipFill>
        <p:spPr>
          <a:xfrm>
            <a:off x="8909552" y="846473"/>
            <a:ext cx="2903139" cy="43675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8" name="Picture 7"/>
          <p:cNvPicPr/>
          <p:nvPr/>
        </p:nvPicPr>
        <p:blipFill>
          <a:blip r:embed="rId3"/>
          <a:stretch>
            <a:fillRect/>
          </a:stretch>
        </p:blipFill>
        <p:spPr>
          <a:xfrm>
            <a:off x="768485" y="1196502"/>
            <a:ext cx="10447506" cy="493192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8" name="Picture 7"/>
          <p:cNvPicPr/>
          <p:nvPr/>
        </p:nvPicPr>
        <p:blipFill>
          <a:blip r:embed="rId3"/>
          <a:stretch>
            <a:fillRect/>
          </a:stretch>
        </p:blipFill>
        <p:spPr>
          <a:xfrm>
            <a:off x="1429966" y="1089498"/>
            <a:ext cx="9581745" cy="5097293"/>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stretch>
            <a:fillRect/>
          </a:stretch>
        </p:blipFill>
        <p:spPr>
          <a:xfrm>
            <a:off x="584242" y="816977"/>
            <a:ext cx="10509766" cy="5899738"/>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 xmlns:a16="http://schemas.microsoft.com/office/drawing/2014/main" id="{ED65F54F-855A-0DB6-09A6-3212C5F7405B}"/>
              </a:ext>
            </a:extLst>
          </p:cNvPr>
          <p:cNvSpPr txBox="1"/>
          <p:nvPr/>
        </p:nvSpPr>
        <p:spPr>
          <a:xfrm>
            <a:off x="768485" y="1167320"/>
            <a:ext cx="11310739" cy="5262979"/>
          </a:xfrm>
          <a:prstGeom prst="rect">
            <a:avLst/>
          </a:prstGeom>
          <a:noFill/>
        </p:spPr>
        <p:txBody>
          <a:bodyPr wrap="square" rtlCol="0">
            <a:spAutoFit/>
          </a:bodyPr>
          <a:lstStyle/>
          <a:p>
            <a:pPr algn="just"/>
            <a:r>
              <a:rPr lang="en-IN" sz="1600" dirty="0"/>
              <a:t>The proposed Nutrition Agent stands out by combining </a:t>
            </a:r>
            <a:r>
              <a:rPr lang="en-IN" sz="1600" b="1" dirty="0" err="1"/>
              <a:t>Agentic</a:t>
            </a:r>
            <a:r>
              <a:rPr lang="en-IN" sz="1600" b="1" dirty="0"/>
              <a:t> AI, RAG, and personalization</a:t>
            </a:r>
            <a:r>
              <a:rPr lang="en-IN" sz="1600" dirty="0"/>
              <a:t> into a single intelligent system.</a:t>
            </a:r>
          </a:p>
          <a:p>
            <a:pPr algn="just"/>
            <a:endParaRPr lang="en-IN" sz="1600" dirty="0"/>
          </a:p>
          <a:p>
            <a:pPr algn="just"/>
            <a:r>
              <a:rPr lang="en-IN" sz="1600" b="1" dirty="0"/>
              <a:t>Multi-Agent Intelligence</a:t>
            </a:r>
            <a:r>
              <a:rPr lang="en-IN" sz="1600" dirty="0"/>
              <a:t> – Instead of a single </a:t>
            </a:r>
            <a:r>
              <a:rPr lang="en-IN" sz="1600" dirty="0" err="1"/>
              <a:t>chatbot</a:t>
            </a:r>
            <a:r>
              <a:rPr lang="en-IN" sz="1600" dirty="0"/>
              <a:t>, multiple specialized agents collaborate to deliver accurate and context-aware nutrition guidance. </a:t>
            </a:r>
            <a:endParaRPr lang="en-IN" sz="1600" dirty="0" smtClean="0"/>
          </a:p>
          <a:p>
            <a:pPr algn="just"/>
            <a:endParaRPr lang="en-IN" sz="1600" dirty="0"/>
          </a:p>
          <a:p>
            <a:pPr algn="just"/>
            <a:r>
              <a:rPr lang="en-IN" sz="1600" b="1" dirty="0"/>
              <a:t>RAG-Based Accuracy</a:t>
            </a:r>
            <a:r>
              <a:rPr lang="en-IN" sz="1600" dirty="0"/>
              <a:t> – Integrates real-time data retrieval with AI generation, reducing misinformation and ensuring trustworthy recommendations. </a:t>
            </a:r>
            <a:endParaRPr lang="en-IN" sz="1600" dirty="0" smtClean="0"/>
          </a:p>
          <a:p>
            <a:pPr algn="just"/>
            <a:endParaRPr lang="en-IN" sz="1600" dirty="0"/>
          </a:p>
          <a:p>
            <a:pPr algn="just"/>
            <a:r>
              <a:rPr lang="en-IN" sz="1600" b="1" dirty="0"/>
              <a:t>Hyper-Personalization</a:t>
            </a:r>
            <a:r>
              <a:rPr lang="en-IN" sz="1600" dirty="0"/>
              <a:t> – Tailors diet plans based on health conditions, cultural preferences, and fitness goals. </a:t>
            </a:r>
            <a:endParaRPr lang="en-IN" sz="1600" dirty="0" smtClean="0"/>
          </a:p>
          <a:p>
            <a:pPr algn="just"/>
            <a:endParaRPr lang="en-IN" sz="1600" dirty="0"/>
          </a:p>
          <a:p>
            <a:pPr algn="just"/>
            <a:r>
              <a:rPr lang="en-IN" sz="1600" b="1" dirty="0"/>
              <a:t>Real-Time Feedback Loop</a:t>
            </a:r>
            <a:r>
              <a:rPr lang="en-IN" sz="1600" dirty="0"/>
              <a:t> – Continuously adapts recommendations based on daily food logs and user </a:t>
            </a:r>
            <a:r>
              <a:rPr lang="en-IN" sz="1600" dirty="0" err="1"/>
              <a:t>behavior</a:t>
            </a:r>
            <a:r>
              <a:rPr lang="en-IN" sz="1600" dirty="0"/>
              <a:t>. </a:t>
            </a:r>
            <a:endParaRPr lang="en-IN" sz="1600" dirty="0" smtClean="0"/>
          </a:p>
          <a:p>
            <a:pPr algn="just"/>
            <a:endParaRPr lang="en-IN" sz="1600" dirty="0"/>
          </a:p>
          <a:p>
            <a:pPr algn="just"/>
            <a:r>
              <a:rPr lang="en-IN" sz="1600" b="1" dirty="0"/>
              <a:t>Multi-Modal Input</a:t>
            </a:r>
            <a:r>
              <a:rPr lang="en-IN" sz="1600" dirty="0"/>
              <a:t> – Supports text, voice, and image-based meal tracking for better usability. </a:t>
            </a:r>
            <a:endParaRPr lang="en-IN" sz="1600" dirty="0" smtClean="0"/>
          </a:p>
          <a:p>
            <a:pPr algn="just"/>
            <a:endParaRPr lang="en-IN" sz="1600" dirty="0"/>
          </a:p>
          <a:p>
            <a:pPr algn="just"/>
            <a:r>
              <a:rPr lang="en-IN" sz="1600" b="1" dirty="0"/>
              <a:t>Preventive Healthcare Focus</a:t>
            </a:r>
            <a:r>
              <a:rPr lang="en-IN" sz="1600" dirty="0"/>
              <a:t> – Goes beyond diet planning to provide disease-specific nutrition advice. </a:t>
            </a:r>
            <a:endParaRPr lang="en-IN" sz="1600" dirty="0" smtClean="0"/>
          </a:p>
          <a:p>
            <a:pPr algn="just"/>
            <a:endParaRPr lang="en-IN" sz="1600" dirty="0"/>
          </a:p>
          <a:p>
            <a:pPr algn="just"/>
            <a:r>
              <a:rPr lang="en-IN" sz="1600" b="1" dirty="0"/>
              <a:t>Scalable &amp; Enterprise-Ready</a:t>
            </a:r>
            <a:r>
              <a:rPr lang="en-IN" sz="1600" dirty="0"/>
              <a:t> – Built on </a:t>
            </a:r>
            <a:r>
              <a:rPr lang="en-IN" sz="1600" b="1" dirty="0"/>
              <a:t>IBM watsonx.ai</a:t>
            </a:r>
            <a:r>
              <a:rPr lang="en-IN" sz="1600" dirty="0"/>
              <a:t> with </a:t>
            </a:r>
            <a:r>
              <a:rPr lang="en-IN" sz="1600" b="1" dirty="0"/>
              <a:t>IBM Granite models</a:t>
            </a:r>
            <a:r>
              <a:rPr lang="en-IN" sz="1600" dirty="0"/>
              <a:t>, ensuring reliability and governance. </a:t>
            </a:r>
          </a:p>
          <a:p>
            <a:pPr algn="just"/>
            <a:endParaRPr lang="en-IN" sz="1600" dirty="0"/>
          </a:p>
          <a:p>
            <a:pPr algn="just"/>
            <a:r>
              <a:rPr lang="en-IN" sz="1600" dirty="0"/>
              <a:t>This makes the solution a </a:t>
            </a:r>
            <a:r>
              <a:rPr lang="en-IN" sz="1600" b="1" dirty="0"/>
              <a:t>smart, adaptive, and proactive digital nutritionist</a:t>
            </a:r>
            <a:r>
              <a:rPr lang="en-IN" sz="1600" dirty="0"/>
              <a:t>, not just a static diet recommendation tool.</a:t>
            </a:r>
            <a:endParaRPr lang="en-US" sz="1600" dirty="0"/>
          </a:p>
          <a:p>
            <a:endParaRPr lang="en-IN" sz="1600" dirty="0"/>
          </a:p>
        </p:txBody>
      </p:sp>
    </p:spTree>
    <p:extLst>
      <p:ext uri="{BB962C8B-B14F-4D97-AF65-F5344CB8AC3E}">
        <p14:creationId xmlns:p14="http://schemas.microsoft.com/office/powerpoint/2010/main" val="917964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endParaRPr lang="en-US" sz="1850" b="0" i="0" u="none" strike="noStrike" cap="none" dirty="0" smtClean="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a:solidFill>
                  <a:srgbClr val="FF0000"/>
                </a:solidFill>
                <a:latin typeface="Times New Roman"/>
                <a:ea typeface="Times New Roman"/>
                <a:cs typeface="Times New Roman"/>
                <a:sym typeface="Times New Roman"/>
                <a:hlinkClick r:id="rId3"/>
              </a:rPr>
              <a:t>https://github.com/drkrajeshkambattan/IBM-Project---Nutrition-Agent-/</a:t>
            </a:r>
            <a:r>
              <a:rPr lang="en-US" sz="1850" dirty="0" smtClean="0">
                <a:solidFill>
                  <a:srgbClr val="FF0000"/>
                </a:solidFill>
                <a:latin typeface="Times New Roman"/>
                <a:ea typeface="Times New Roman"/>
                <a:cs typeface="Times New Roman"/>
                <a:sym typeface="Times New Roman"/>
                <a:hlinkClick r:id="rId3"/>
              </a:rPr>
              <a:t>upload/main</a:t>
            </a:r>
            <a:endParaRPr lang="en-US" sz="1850" dirty="0" smtClean="0">
              <a:solidFill>
                <a:srgbClr val="FF0000"/>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FF0000"/>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r>
              <a:rPr lang="en-US" sz="1850" dirty="0">
                <a:solidFill>
                  <a:srgbClr val="2B3541"/>
                </a:solidFill>
                <a:latin typeface="Times New Roman"/>
                <a:ea typeface="Times New Roman"/>
                <a:cs typeface="Times New Roman"/>
                <a:sym typeface="Times New Roman"/>
              </a:rPr>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4"/>
          <a:stretch>
            <a:fillRect/>
          </a:stretch>
        </p:blipFill>
        <p:spPr>
          <a:xfrm>
            <a:off x="1087246" y="3087030"/>
            <a:ext cx="9496447" cy="2932011"/>
          </a:xfrm>
          <a:prstGeom prst="rect">
            <a:avLst/>
          </a:prstGeom>
        </p:spPr>
      </p:pic>
    </p:spTree>
    <p:extLst>
      <p:ext uri="{BB962C8B-B14F-4D97-AF65-F5344CB8AC3E}">
        <p14:creationId xmlns:p14="http://schemas.microsoft.com/office/powerpoint/2010/main" val="260585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2" name="Picture 1"/>
          <p:cNvPicPr>
            <a:picLocks noChangeAspect="1"/>
          </p:cNvPicPr>
          <p:nvPr/>
        </p:nvPicPr>
        <p:blipFill>
          <a:blip r:embed="rId2"/>
          <a:stretch>
            <a:fillRect/>
          </a:stretch>
        </p:blipFill>
        <p:spPr>
          <a:xfrm>
            <a:off x="2143836" y="1367169"/>
            <a:ext cx="6659695" cy="5063462"/>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2" name="Picture 1"/>
          <p:cNvPicPr>
            <a:picLocks noChangeAspect="1"/>
          </p:cNvPicPr>
          <p:nvPr/>
        </p:nvPicPr>
        <p:blipFill>
          <a:blip r:embed="rId2"/>
          <a:stretch>
            <a:fillRect/>
          </a:stretch>
        </p:blipFill>
        <p:spPr>
          <a:xfrm>
            <a:off x="1617890" y="1200580"/>
            <a:ext cx="8236373" cy="509296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395</TotalTime>
  <Words>1056</Words>
  <Application>Microsoft Office PowerPoint</Application>
  <PresentationFormat>Widescreen</PresentationFormat>
  <Paragraphs>162</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Microsoft account</cp:lastModifiedBy>
  <cp:revision>18</cp:revision>
  <dcterms:created xsi:type="dcterms:W3CDTF">2025-07-08T05:06:56Z</dcterms:created>
  <dcterms:modified xsi:type="dcterms:W3CDTF">2026-07-03T02:50:15Z</dcterms:modified>
</cp:coreProperties>
</file>